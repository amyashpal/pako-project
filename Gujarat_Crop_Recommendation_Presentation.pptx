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4CAF50"/>
                </a:solidFill>
              </a:defRPr>
            </a:pPr>
            <a:r>
              <a:t>Gujarat Crop Recommendation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12121"/>
                </a:solidFill>
              </a:defRPr>
            </a:pPr>
            <a:r>
              <a:t>AI-Powered Crop Recommendation for Farmers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4CAF50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rPr dirty="0"/>
              <a:t>Challenges Faced by Farmers:</a:t>
            </a:r>
          </a:p>
          <a:p>
            <a:endParaRPr dirty="0"/>
          </a:p>
          <a:p>
            <a:pPr>
              <a:defRPr sz="1800"/>
            </a:pPr>
            <a:r>
              <a:rPr dirty="0"/>
              <a:t>• Uncertainty in crop selection based on soil conditions</a:t>
            </a:r>
          </a:p>
          <a:p>
            <a:pPr>
              <a:defRPr sz="1800"/>
            </a:pPr>
            <a:r>
              <a:rPr dirty="0"/>
              <a:t>• Lack of scientific guidance for crop planning</a:t>
            </a:r>
          </a:p>
          <a:p>
            <a:pPr>
              <a:defRPr sz="1800"/>
            </a:pPr>
            <a:r>
              <a:rPr dirty="0"/>
              <a:t>• Low productivity due to unsuitable crop choices</a:t>
            </a:r>
          </a:p>
          <a:p>
            <a:pPr>
              <a:defRPr sz="1800"/>
            </a:pPr>
            <a:r>
              <a:rPr dirty="0"/>
              <a:t>• Limited access to agricultural expertise</a:t>
            </a:r>
          </a:p>
          <a:p>
            <a:pPr>
              <a:defRPr sz="1800"/>
            </a:pPr>
            <a:r>
              <a:rPr dirty="0"/>
              <a:t>• Language barriers in accessing technology</a:t>
            </a:r>
          </a:p>
          <a:p>
            <a:pPr>
              <a:defRPr sz="1800"/>
            </a:pPr>
            <a:r>
              <a:rPr dirty="0"/>
              <a:t>• Risk of crop failure and financial losses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4CAF50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AI-Powered Crop Recommendation System</a:t>
            </a:r>
          </a:p>
          <a:p>
            <a:endParaRPr/>
          </a:p>
          <a:p>
            <a:pPr>
              <a:defRPr sz="1800"/>
            </a:pPr>
            <a:r>
              <a:t>✓ Smart crop recommendations based on soil analysis</a:t>
            </a:r>
          </a:p>
          <a:p>
            <a:pPr>
              <a:defRPr sz="1800"/>
            </a:pPr>
            <a:r>
              <a:t>✓ Yield prediction using machine learning</a:t>
            </a:r>
          </a:p>
          <a:p>
            <a:pPr>
              <a:defRPr sz="1800"/>
            </a:pPr>
            <a:r>
              <a:t>✓ Treatment plans (fertilizers, pesticides, irrigation)</a:t>
            </a:r>
          </a:p>
          <a:p>
            <a:pPr>
              <a:defRPr sz="1800"/>
            </a:pPr>
            <a:r>
              <a:t>✓ Multi-language support (12+ Indian languages)</a:t>
            </a:r>
          </a:p>
          <a:p>
            <a:pPr>
              <a:defRPr sz="1800"/>
            </a:pPr>
            <a:r>
              <a:t>✓ User-friendly web interface for farmers</a:t>
            </a:r>
          </a:p>
          <a:p>
            <a:pPr>
              <a:defRPr sz="1800"/>
            </a:pPr>
            <a:r>
              <a:t>✓ Prediction history and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4CAF50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rPr dirty="0"/>
              <a:t>Technology Stack:</a:t>
            </a:r>
          </a:p>
          <a:p>
            <a:endParaRPr dirty="0"/>
          </a:p>
          <a:p>
            <a:pPr>
              <a:defRPr sz="1800"/>
            </a:pPr>
            <a:r>
              <a:rPr dirty="0"/>
              <a:t>Frontend: </a:t>
            </a:r>
            <a:r>
              <a:rPr dirty="0" err="1"/>
              <a:t>Streamlit</a:t>
            </a:r>
            <a:r>
              <a:rPr dirty="0"/>
              <a:t>, HTML/CSS, JavaScript</a:t>
            </a:r>
          </a:p>
          <a:p>
            <a:pPr>
              <a:defRPr sz="1800"/>
            </a:pPr>
            <a:r>
              <a:rPr dirty="0"/>
              <a:t>Backend: Python, PostgreSQL, JWT Authentication</a:t>
            </a:r>
          </a:p>
          <a:p>
            <a:pPr>
              <a:defRPr sz="1800"/>
            </a:pPr>
            <a:r>
              <a:rPr dirty="0"/>
              <a:t>Machine Learning: </a:t>
            </a:r>
            <a:r>
              <a:rPr dirty="0" err="1"/>
              <a:t>XGBoost</a:t>
            </a:r>
            <a:r>
              <a:rPr dirty="0"/>
              <a:t>, Random Forest, Scikit-learn</a:t>
            </a:r>
          </a:p>
          <a:p>
            <a:pPr>
              <a:defRPr sz="1800"/>
            </a:pPr>
            <a:r>
              <a:rPr dirty="0"/>
              <a:t>Data Processing: Pandas, NumPy, SMOTE</a:t>
            </a:r>
          </a:p>
          <a:p>
            <a:pPr>
              <a:defRPr sz="1800"/>
            </a:pPr>
            <a:r>
              <a:rPr dirty="0"/>
              <a:t>Visualization: Matplotlib, Seaborn, SHAP</a:t>
            </a:r>
          </a:p>
          <a:p>
            <a:pPr>
              <a:defRPr sz="1800"/>
            </a:pPr>
            <a:r>
              <a:rPr dirty="0"/>
              <a:t>Translation: Deep Translator (Google Translate API)</a:t>
            </a:r>
          </a:p>
          <a:p>
            <a:pPr>
              <a:defRPr sz="1800"/>
            </a:pPr>
            <a:r>
              <a:rPr dirty="0"/>
              <a:t>Deployment: Docker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4CAF50"/>
                </a:solidFill>
              </a:defRPr>
            </a:pPr>
            <a:r>
              <a:t>Machine Learning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Three Powerful ML Models:</a:t>
            </a:r>
          </a:p>
          <a:p>
            <a:endParaRPr/>
          </a:p>
          <a:p>
            <a:pPr>
              <a:defRPr sz="1800"/>
            </a:pPr>
            <a:r>
              <a:t>1. XGBoost Classifier (Crop Recommendation)</a:t>
            </a:r>
          </a:p>
          <a:p>
            <a:pPr lvl="1">
              <a:defRPr sz="1600"/>
            </a:pPr>
            <a:r>
              <a:t>• Multi-class classification for 21 crops</a:t>
            </a:r>
          </a:p>
          <a:p>
            <a:pPr lvl="1">
              <a:defRPr sz="1600"/>
            </a:pPr>
            <a:r>
              <a:t>• 83.16% accuracy, 99.07% top-3 accuracy</a:t>
            </a:r>
          </a:p>
          <a:p>
            <a:endParaRPr/>
          </a:p>
          <a:p>
            <a:pPr>
              <a:defRPr sz="1800"/>
            </a:pPr>
            <a:r>
              <a:t>2. Random Forest (Suitability Prediction)</a:t>
            </a:r>
          </a:p>
          <a:p>
            <a:pPr lvl="1">
              <a:defRPr sz="1600"/>
            </a:pPr>
            <a:r>
              <a:t>• Binary classification (Grow/Not Grow)</a:t>
            </a:r>
          </a:p>
          <a:p>
            <a:pPr lvl="1">
              <a:defRPr sz="1600"/>
            </a:pPr>
            <a:r>
              <a:t>• 88.92% accuracy, 91.52% ROC AUC</a:t>
            </a:r>
          </a:p>
          <a:p>
            <a:endParaRPr/>
          </a:p>
          <a:p>
            <a:pPr>
              <a:defRPr sz="1800"/>
            </a:pPr>
            <a:r>
              <a:t>3. XGBoost Regressor (Yield Prediction)</a:t>
            </a:r>
          </a:p>
          <a:p>
            <a:pPr lvl="1">
              <a:defRPr sz="1600"/>
            </a:pPr>
            <a:r>
              <a:t>• Predicts expected crop yield</a:t>
            </a:r>
          </a:p>
          <a:p>
            <a:pPr lvl="1">
              <a:defRPr sz="1600"/>
            </a:pPr>
            <a:r>
              <a:t>• 95.96% R² score, RMSE: 11.52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4CAF50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System Features:</a:t>
            </a:r>
          </a:p>
          <a:p>
            <a:endParaRPr/>
          </a:p>
          <a:p>
            <a:pPr>
              <a:defRPr sz="1800"/>
            </a:pPr>
            <a:r>
              <a:t>🌾 Normal Mode: Top 3-4 crop recommendations</a:t>
            </a:r>
          </a:p>
          <a:p>
            <a:pPr>
              <a:defRPr sz="1800"/>
            </a:pPr>
            <a:r>
              <a:t>🎯 Advanced Mode: Specific crop suitability analysis</a:t>
            </a:r>
          </a:p>
          <a:p>
            <a:pPr>
              <a:defRPr sz="1800"/>
            </a:pPr>
            <a:r>
              <a:t>📊 Yield Prediction: Expected crop yield estimation</a:t>
            </a:r>
          </a:p>
          <a:p>
            <a:pPr>
              <a:defRPr sz="1800"/>
            </a:pPr>
            <a:r>
              <a:t>💊 Treatment Plans: Fertilizers, pesticides, irrigation</a:t>
            </a:r>
          </a:p>
          <a:p>
            <a:pPr>
              <a:defRPr sz="1800"/>
            </a:pPr>
            <a:r>
              <a:t>🌍 Multi-language: 12+ Indian languages supported</a:t>
            </a:r>
          </a:p>
          <a:p>
            <a:pPr>
              <a:defRPr sz="1800"/>
            </a:pPr>
            <a:r>
              <a:t>📜 History: Track all predictions and analytics</a:t>
            </a:r>
          </a:p>
          <a:p>
            <a:pPr>
              <a:defRPr sz="1800"/>
            </a:pPr>
            <a:r>
              <a:t>🔐 Secure: Encrypted passwords, JWT authentication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4CAF50"/>
                </a:solidFill>
              </a:defRPr>
            </a:pPr>
            <a:r>
              <a:t>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Outstanding Model Performance:</a:t>
            </a:r>
          </a:p>
          <a:p>
            <a:endParaRPr/>
          </a:p>
          <a:p>
            <a:pPr>
              <a:defRPr sz="1800" b="1"/>
            </a:pPr>
            <a:r>
              <a:t>Crop Classification:</a:t>
            </a:r>
          </a:p>
          <a:p>
            <a:pPr lvl="1">
              <a:defRPr sz="1600"/>
            </a:pPr>
            <a:r>
              <a:t>✓ Accuracy: 83.16%</a:t>
            </a:r>
          </a:p>
          <a:p>
            <a:pPr lvl="1">
              <a:defRPr sz="1600"/>
            </a:pPr>
            <a:r>
              <a:t>✓ Top-3 Accuracy: 99.07%</a:t>
            </a:r>
          </a:p>
          <a:p>
            <a:pPr lvl="1">
              <a:defRPr sz="1600"/>
            </a:pPr>
            <a:r>
              <a:t>✓ Cross-Validation: 96.28%</a:t>
            </a:r>
          </a:p>
          <a:p>
            <a:endParaRPr/>
          </a:p>
          <a:p>
            <a:pPr>
              <a:defRPr sz="1800" b="1"/>
            </a:pPr>
            <a:r>
              <a:t>Suitability Prediction:</a:t>
            </a:r>
          </a:p>
          <a:p>
            <a:pPr lvl="1">
              <a:defRPr sz="1600"/>
            </a:pPr>
            <a:r>
              <a:t>✓ Accuracy: 88.92%</a:t>
            </a:r>
          </a:p>
          <a:p>
            <a:pPr lvl="1">
              <a:defRPr sz="1600"/>
            </a:pPr>
            <a:r>
              <a:t>✓ ROC AUC: 91.52%</a:t>
            </a:r>
          </a:p>
          <a:p>
            <a:endParaRPr/>
          </a:p>
          <a:p>
            <a:pPr>
              <a:defRPr sz="1800" b="1"/>
            </a:pPr>
            <a:r>
              <a:t>Yield Prediction:</a:t>
            </a:r>
          </a:p>
          <a:p>
            <a:pPr lvl="1">
              <a:defRPr sz="1600"/>
            </a:pPr>
            <a:r>
              <a:t>✓ R² Score: 95.96%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4CAF50"/>
                </a:solidFill>
              </a:defRPr>
            </a:pPr>
            <a:r>
              <a:t>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Complete System Workflow:</a:t>
            </a:r>
          </a:p>
          <a:p>
            <a:endParaRPr/>
          </a:p>
          <a:p>
            <a:pPr>
              <a:defRPr sz="1800"/>
            </a:pPr>
            <a:r>
              <a:t>1. User Registration/Login</a:t>
            </a:r>
          </a:p>
          <a:p>
            <a:pPr lvl="1">
              <a:defRPr sz="1600"/>
            </a:pPr>
            <a:r>
              <a:t>→ Secure authentication with bcrypt &amp; JWT</a:t>
            </a:r>
          </a:p>
          <a:p>
            <a:endParaRPr/>
          </a:p>
          <a:p>
            <a:pPr>
              <a:defRPr sz="1800"/>
            </a:pPr>
            <a:r>
              <a:t>2. Add Soil Details</a:t>
            </a:r>
          </a:p>
          <a:p>
            <a:pPr lvl="1">
              <a:defRPr sz="1600"/>
            </a:pPr>
            <a:r>
              <a:t>→ State, District, Taluka, Soil Type, pH</a:t>
            </a:r>
          </a:p>
          <a:p>
            <a:endParaRPr/>
          </a:p>
          <a:p>
            <a:pPr>
              <a:defRPr sz="1800"/>
            </a:pPr>
            <a:r>
              <a:t>3. Crop Prediction</a:t>
            </a:r>
          </a:p>
          <a:p>
            <a:pPr lvl="1">
              <a:defRPr sz="1600"/>
            </a:pPr>
            <a:r>
              <a:t>→ ML models analyze soil conditions</a:t>
            </a:r>
          </a:p>
          <a:p>
            <a:endParaRPr/>
          </a:p>
          <a:p>
            <a:pPr>
              <a:defRPr sz="1800"/>
            </a:pPr>
            <a:r>
              <a:t>4. Results Display</a:t>
            </a:r>
          </a:p>
          <a:p>
            <a:pPr lvl="1">
              <a:defRPr sz="1600"/>
            </a:pPr>
            <a:r>
              <a:t>→ Crops, yields, and treatment plans</a:t>
            </a:r>
          </a:p>
          <a:p>
            <a:endParaRPr/>
          </a:p>
          <a:p>
            <a:pPr>
              <a:defRPr sz="1800"/>
            </a:pPr>
            <a:r>
              <a:t>5. Translation (Optional)</a:t>
            </a:r>
          </a:p>
          <a:p>
            <a:pPr lvl="1">
              <a:defRPr sz="1600"/>
            </a:pPr>
            <a:r>
              <a:t>→ Regional language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4CAF50"/>
                </a:solidFill>
              </a:defRPr>
            </a:pPr>
            <a:r>
              <a:t>Database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PostgreSQL Database:</a:t>
            </a:r>
          </a:p>
          <a:p>
            <a:endParaRPr/>
          </a:p>
          <a:p>
            <a:pPr>
              <a:defRPr sz="1800"/>
            </a:pPr>
            <a:r>
              <a:t>1. users table</a:t>
            </a:r>
          </a:p>
          <a:p>
            <a:pPr lvl="1">
              <a:defRPr sz="1600"/>
            </a:pPr>
            <a:r>
              <a:t>• User credentials and profile</a:t>
            </a:r>
          </a:p>
          <a:p>
            <a:endParaRPr/>
          </a:p>
          <a:p>
            <a:pPr>
              <a:defRPr sz="1800"/>
            </a:pPr>
            <a:r>
              <a:t>2. soil_details table</a:t>
            </a:r>
          </a:p>
          <a:p>
            <a:pPr lvl="1">
              <a:defRPr sz="1600"/>
            </a:pPr>
            <a:r>
              <a:t>• Soil parameters by location</a:t>
            </a:r>
          </a:p>
          <a:p>
            <a:endParaRPr/>
          </a:p>
          <a:p>
            <a:pPr>
              <a:defRPr sz="1800"/>
            </a:pPr>
            <a:r>
              <a:t>3. prediction_history table</a:t>
            </a:r>
          </a:p>
          <a:p>
            <a:pPr lvl="1">
              <a:defRPr sz="1600"/>
            </a:pPr>
            <a:r>
              <a:t>• All predictions with timestamps</a:t>
            </a:r>
          </a:p>
          <a:p>
            <a:pPr lvl="1">
              <a:defRPr sz="1600"/>
            </a:pPr>
            <a:r>
              <a:t>• Confidence scores and yields</a:t>
            </a:r>
          </a:p>
          <a:p>
            <a:pPr lvl="1">
              <a:defRPr sz="1600"/>
            </a:pPr>
            <a:r>
              <a:t>• Full prediction results (JSON)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4CAF50"/>
                </a:solidFill>
              </a:defRPr>
            </a:pPr>
            <a:r>
              <a:t>Security &amp; 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Security Features:</a:t>
            </a:r>
          </a:p>
          <a:p>
            <a:endParaRPr/>
          </a:p>
          <a:p>
            <a:pPr>
              <a:defRPr sz="1800" b="1"/>
            </a:pPr>
            <a:r>
              <a:t>🔐 Password Security:</a:t>
            </a:r>
          </a:p>
          <a:p>
            <a:pPr lvl="1">
              <a:defRPr sz="1600"/>
            </a:pPr>
            <a:r>
              <a:t>• Bcrypt hashing with salt</a:t>
            </a:r>
          </a:p>
          <a:p>
            <a:endParaRPr/>
          </a:p>
          <a:p>
            <a:pPr>
              <a:defRPr sz="1800" b="1"/>
            </a:pPr>
            <a:r>
              <a:t>🎫 Session Management:</a:t>
            </a:r>
          </a:p>
          <a:p>
            <a:pPr lvl="1">
              <a:defRPr sz="1600"/>
            </a:pPr>
            <a:r>
              <a:t>• JWT token authentication</a:t>
            </a:r>
          </a:p>
          <a:p>
            <a:endParaRPr/>
          </a:p>
          <a:p>
            <a:pPr>
              <a:defRPr sz="1800" b="1"/>
            </a:pPr>
            <a:r>
              <a:t>🛡️ Database Security:</a:t>
            </a:r>
          </a:p>
          <a:p>
            <a:pPr lvl="1">
              <a:defRPr sz="1600"/>
            </a:pPr>
            <a:r>
              <a:t>• Parameterized SQL queries</a:t>
            </a:r>
          </a:p>
          <a:p>
            <a:pPr lvl="1">
              <a:defRPr sz="1600"/>
            </a:pPr>
            <a:r>
              <a:t>• SQL injection prevention</a:t>
            </a:r>
          </a:p>
          <a:p>
            <a:endParaRPr/>
          </a:p>
          <a:p>
            <a:pPr>
              <a:defRPr sz="1800" b="1"/>
            </a:pPr>
            <a:r>
              <a:t>🔒 Data Protection:</a:t>
            </a:r>
          </a:p>
          <a:p>
            <a:pPr lvl="1">
              <a:defRPr sz="1600"/>
            </a:pPr>
            <a:r>
              <a:t>• Environment variables for secrets</a:t>
            </a:r>
          </a:p>
          <a:p>
            <a:pPr lvl="1">
              <a:defRPr sz="1600"/>
            </a:pPr>
            <a:r>
              <a:t>• HTTPS encryption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4CAF50"/>
                </a:solidFill>
              </a:defRPr>
            </a:pPr>
            <a: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rPr dirty="0"/>
              <a:t>Deployment Architecture:</a:t>
            </a:r>
          </a:p>
          <a:p>
            <a:endParaRPr dirty="0"/>
          </a:p>
          <a:p>
            <a:pPr>
              <a:defRPr sz="1800" b="1"/>
            </a:pPr>
            <a:r>
              <a:rPr dirty="0"/>
              <a:t>Docker Containerization:</a:t>
            </a:r>
          </a:p>
          <a:p>
            <a:pPr lvl="1">
              <a:defRPr sz="1600"/>
            </a:pPr>
            <a:r>
              <a:rPr dirty="0"/>
              <a:t>• Python 3.11 slim base image</a:t>
            </a:r>
          </a:p>
          <a:p>
            <a:pPr lvl="1">
              <a:defRPr sz="1600"/>
            </a:pPr>
            <a:r>
              <a:rPr dirty="0"/>
              <a:t>• Optimized dependencies</a:t>
            </a:r>
          </a:p>
          <a:p>
            <a:pPr lvl="1">
              <a:defRPr sz="1600"/>
            </a:pPr>
            <a:r>
              <a:rPr dirty="0"/>
              <a:t>• Health checks and monitoring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4CAF50"/>
                </a:solidFill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Future Enhancements:</a:t>
            </a:r>
          </a:p>
          <a:p>
            <a:endParaRPr/>
          </a:p>
          <a:p>
            <a:pPr>
              <a:defRPr sz="1800" b="1"/>
            </a:pPr>
            <a:r>
              <a:t>Short-term:</a:t>
            </a:r>
          </a:p>
          <a:p>
            <a:pPr lvl="1">
              <a:defRPr sz="1600"/>
            </a:pPr>
            <a:r>
              <a:t>• Real-time weather data integration</a:t>
            </a:r>
          </a:p>
          <a:p>
            <a:pPr lvl="1">
              <a:defRPr sz="1600"/>
            </a:pPr>
            <a:r>
              <a:t>• Mobile app development</a:t>
            </a:r>
          </a:p>
          <a:p>
            <a:pPr lvl="1">
              <a:defRPr sz="1600"/>
            </a:pPr>
            <a:r>
              <a:t>• SMS-based recommendations</a:t>
            </a:r>
          </a:p>
          <a:p>
            <a:endParaRPr/>
          </a:p>
          <a:p>
            <a:pPr>
              <a:defRPr sz="1800" b="1"/>
            </a:pPr>
            <a:r>
              <a:t>Long-term:</a:t>
            </a:r>
          </a:p>
          <a:p>
            <a:pPr lvl="1">
              <a:defRPr sz="1600"/>
            </a:pPr>
            <a:r>
              <a:t>• AI-powered pest detection</a:t>
            </a:r>
          </a:p>
          <a:p>
            <a:pPr lvl="1">
              <a:defRPr sz="1600"/>
            </a:pPr>
            <a:r>
              <a:t>• Satellite imagery integration</a:t>
            </a:r>
          </a:p>
          <a:p>
            <a:pPr lvl="1">
              <a:defRPr sz="1600"/>
            </a:pPr>
            <a:r>
              <a:t>• IoT sensor integration</a:t>
            </a:r>
          </a:p>
          <a:p>
            <a:pPr lvl="1">
              <a:defRPr sz="1600"/>
            </a:pPr>
            <a:r>
              <a:t>• Precision agriculture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4CAF50"/>
                </a:solidFill>
              </a:defRPr>
            </a:pPr>
            <a:r>
              <a:t>Impact &amp;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Impact &amp; Benefits:</a:t>
            </a:r>
          </a:p>
          <a:p>
            <a:endParaRPr/>
          </a:p>
          <a:p>
            <a:pPr>
              <a:defRPr sz="1800" b="1"/>
            </a:pPr>
            <a:r>
              <a:t>For Farmers:</a:t>
            </a:r>
          </a:p>
          <a:p>
            <a:pPr lvl="1">
              <a:defRPr sz="1600"/>
            </a:pPr>
            <a:r>
              <a:t>✓ Data-driven crop decisions</a:t>
            </a:r>
          </a:p>
          <a:p>
            <a:pPr lvl="1">
              <a:defRPr sz="1600"/>
            </a:pPr>
            <a:r>
              <a:t>✓ Reduced risk of crop failure</a:t>
            </a:r>
          </a:p>
          <a:p>
            <a:pPr lvl="1">
              <a:defRPr sz="1600"/>
            </a:pPr>
            <a:r>
              <a:t>✓ Increased productivity and income</a:t>
            </a:r>
          </a:p>
          <a:p>
            <a:endParaRPr/>
          </a:p>
          <a:p>
            <a:pPr>
              <a:defRPr sz="1800" b="1"/>
            </a:pPr>
            <a:r>
              <a:t>For Agriculture:</a:t>
            </a:r>
          </a:p>
          <a:p>
            <a:pPr lvl="1">
              <a:defRPr sz="1600"/>
            </a:pPr>
            <a:r>
              <a:t>✓ Optimized land utilization</a:t>
            </a:r>
          </a:p>
          <a:p>
            <a:pPr lvl="1">
              <a:defRPr sz="1600"/>
            </a:pPr>
            <a:r>
              <a:t>✓ Sustainable farming practices</a:t>
            </a:r>
          </a:p>
          <a:p>
            <a:endParaRPr/>
          </a:p>
          <a:p>
            <a:pPr>
              <a:defRPr sz="1800" b="1"/>
            </a:pPr>
            <a:r>
              <a:t>For Society:</a:t>
            </a:r>
          </a:p>
          <a:p>
            <a:pPr lvl="1">
              <a:defRPr sz="1600"/>
            </a:pPr>
            <a:r>
              <a:t>✓ Food security improvement</a:t>
            </a:r>
          </a:p>
          <a:p>
            <a:pPr lvl="1">
              <a:defRPr sz="1600"/>
            </a:pPr>
            <a:r>
              <a:t>✓ Rural economic development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4CAF50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Key Achievements:</a:t>
            </a:r>
          </a:p>
          <a:p>
            <a:endParaRPr/>
          </a:p>
          <a:p>
            <a:pPr>
              <a:defRPr sz="1800"/>
            </a:pPr>
            <a:r>
              <a:t>✅ 83.16% accuracy with 99.07% top-3 accuracy</a:t>
            </a:r>
          </a:p>
          <a:p>
            <a:pPr>
              <a:defRPr sz="1800"/>
            </a:pPr>
            <a:r>
              <a:t>✅ Fixed 3,068 mislabeled records</a:t>
            </a:r>
          </a:p>
          <a:p>
            <a:pPr>
              <a:defRPr sz="1800"/>
            </a:pPr>
            <a:r>
              <a:t>✅ Multi-language support for accessibility</a:t>
            </a:r>
          </a:p>
          <a:p>
            <a:pPr>
              <a:defRPr sz="1800"/>
            </a:pPr>
            <a:r>
              <a:t>✅ Production-ready with Docker deployment</a:t>
            </a:r>
          </a:p>
          <a:p>
            <a:pPr>
              <a:defRPr sz="1800"/>
            </a:pPr>
            <a:r>
              <a:t>✅ Real agricultural domain knowledge</a:t>
            </a:r>
          </a:p>
          <a:p>
            <a:endParaRPr/>
          </a:p>
          <a:p>
            <a:pPr>
              <a:defRPr sz="1800" b="1"/>
            </a:pPr>
            <a:r>
              <a:t>Impact:</a:t>
            </a:r>
          </a:p>
          <a:p>
            <a:pPr>
              <a:defRPr sz="1800"/>
            </a:pPr>
            <a:r>
              <a:t>Empowering Gujarat farmers with data-driven</a:t>
            </a:r>
          </a:p>
          <a:p>
            <a:pPr>
              <a:defRPr sz="1800"/>
            </a:pPr>
            <a:r>
              <a:t>agricultural decisions through AI technology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4CAF50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212121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675</Words>
  <Application>Microsoft Office PowerPoint</Application>
  <PresentationFormat>On-screen Show (4:3)</PresentationFormat>
  <Paragraphs>163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Problem Statement</vt:lpstr>
      <vt:lpstr>Our Solution</vt:lpstr>
      <vt:lpstr>Technology Stack</vt:lpstr>
      <vt:lpstr>Machine Learning Models</vt:lpstr>
      <vt:lpstr>Key Features</vt:lpstr>
      <vt:lpstr>Model Performance</vt:lpstr>
      <vt:lpstr>System Workflow</vt:lpstr>
      <vt:lpstr>Database Schema</vt:lpstr>
      <vt:lpstr>Security &amp; Authentication</vt:lpstr>
      <vt:lpstr>Deployment</vt:lpstr>
      <vt:lpstr>Future Enhancements</vt:lpstr>
      <vt:lpstr>Impact &amp; Benefits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Yash Kun</cp:lastModifiedBy>
  <cp:revision>4</cp:revision>
  <dcterms:created xsi:type="dcterms:W3CDTF">2013-01-27T09:14:16Z</dcterms:created>
  <dcterms:modified xsi:type="dcterms:W3CDTF">2025-12-03T16:43:16Z</dcterms:modified>
  <cp:category/>
</cp:coreProperties>
</file>